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image" Target="../media/image-8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image" Target="../media/image-9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9235440" y="-1188720"/>
            <a:ext cx="4754880" cy="4754880"/>
          </a:xfrm>
          <a:prstGeom prst="roundRect">
            <a:avLst>
              <a:gd name="adj" fmla="val 9615"/>
            </a:avLst>
          </a:prstGeom>
          <a:solidFill>
            <a:srgbClr val="141A46"/>
          </a:solidFill>
          <a:ln/>
        </p:spPr>
      </p:sp>
      <p:sp>
        <p:nvSpPr>
          <p:cNvPr id="3" name="Shape 1"/>
          <p:cNvSpPr/>
          <p:nvPr/>
        </p:nvSpPr>
        <p:spPr>
          <a:xfrm rot="1080000">
            <a:off x="10332720" y="4206240"/>
            <a:ext cx="3291840" cy="3291840"/>
          </a:xfrm>
          <a:prstGeom prst="roundRect">
            <a:avLst>
              <a:gd name="adj" fmla="val 11111"/>
            </a:avLst>
          </a:prstGeom>
          <a:solidFill>
            <a:srgbClr val="232B6E"/>
          </a:solidFill>
          <a:ln/>
        </p:spPr>
      </p:sp>
      <p:pic>
        <p:nvPicPr>
          <p:cNvPr id="4" name="Image 0" descr="icons_server.png">    </p:cNvPr>
          <p:cNvPicPr>
            <a:picLocks noChangeAspect="1"/>
          </p:cNvPicPr>
          <p:nvPr/>
        </p:nvPicPr>
        <p:blipFill>
          <a:blip r:embed="rId1">
            <a:alphaModFix amt="92000"/>
          </a:blip>
          <a:stretch>
            <a:fillRect/>
          </a:stretch>
        </p:blipFill>
        <p:spPr>
          <a:xfrm>
            <a:off x="10561320" y="2514600"/>
            <a:ext cx="960120" cy="960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234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REST API  •  CAPSTONE 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21792" y="1645920"/>
            <a:ext cx="8778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Website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40080" y="26974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 Bootcamp Using Java and AI Technologies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3337560"/>
            <a:ext cx="2176272" cy="384048"/>
          </a:xfrm>
          <a:prstGeom prst="roundRect">
            <a:avLst>
              <a:gd name="adj" fmla="val 50000"/>
            </a:avLst>
          </a:prstGeom>
          <a:solidFill>
            <a:srgbClr val="2B356F"/>
          </a:solidFill>
          <a:ln w="9525">
            <a:solidFill>
              <a:srgbClr val="4A538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3337560"/>
            <a:ext cx="2176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DF2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REST API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980944" y="3337560"/>
            <a:ext cx="1888236" cy="384048"/>
          </a:xfrm>
          <a:prstGeom prst="roundRect">
            <a:avLst>
              <a:gd name="adj" fmla="val 50000"/>
            </a:avLst>
          </a:prstGeom>
          <a:solidFill>
            <a:srgbClr val="2B356F"/>
          </a:solidFill>
          <a:ln w="9525">
            <a:solidFill>
              <a:srgbClr val="4A538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980944" y="3337560"/>
            <a:ext cx="18882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DF2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Relationships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033772" y="3337560"/>
            <a:ext cx="2272284" cy="384048"/>
          </a:xfrm>
          <a:prstGeom prst="roundRect">
            <a:avLst>
              <a:gd name="adj" fmla="val 50000"/>
            </a:avLst>
          </a:prstGeom>
          <a:solidFill>
            <a:srgbClr val="2B356F"/>
          </a:solidFill>
          <a:ln w="9525">
            <a:solidFill>
              <a:srgbClr val="4A538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33772" y="3337560"/>
            <a:ext cx="22722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DF2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Endpoints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40080" y="4160520"/>
            <a:ext cx="4206240" cy="0"/>
          </a:xfrm>
          <a:prstGeom prst="line">
            <a:avLst/>
          </a:prstGeom>
          <a:noFill/>
          <a:ln w="12700">
            <a:solidFill>
              <a:srgbClr val="3C468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" y="43891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79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  </a:t>
            </a:r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Majd Alzahrani
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79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 </a:t>
            </a:r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 Alshammary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40080" y="580644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pic>
        <p:nvPicPr>
          <p:cNvPr id="17" name="Image 1" descr="ppt/media/imag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5907024"/>
            <a:ext cx="2157984" cy="48463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79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1  •  UML &amp; EXTRA ENDPOINTS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UML / Domain 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entities and the relationships used by the REST API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2331720" cy="160934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875">
            <a:solidFill>
              <a:srgbClr val="D7DEEF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17320"/>
            <a:ext cx="233172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764792"/>
            <a:ext cx="2331720" cy="109728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7" name="Image 0" descr="icons_b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527048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24712" y="1417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50392" y="1874520"/>
            <a:ext cx="2039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 </a:t>
            </a:r>
            <a:pPr indent="0" marL="0">
              <a:buNone/>
            </a:pPr>
            <a:r>
              <a:rPr lang="en-US" sz="1050" dirty="0">
                <a:solidFill>
                  <a:srgbClr val="4B5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String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50392" y="2130552"/>
            <a:ext cx="2039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 </a:t>
            </a:r>
            <a:pPr indent="0" marL="0">
              <a:buNone/>
            </a:pPr>
            <a:r>
              <a:rPr lang="en-US" sz="1050" dirty="0">
                <a:solidFill>
                  <a:srgbClr val="4B5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String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50392" y="2386584"/>
            <a:ext cx="2039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  </a:t>
            </a:r>
            <a:pPr indent="0" marL="0">
              <a:buNone/>
            </a:pPr>
            <a:r>
              <a:rPr lang="en-US" sz="1050" dirty="0">
                <a:solidFill>
                  <a:srgbClr val="4B5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double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50392" y="2642616"/>
            <a:ext cx="2039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categoryID  </a:t>
            </a:r>
            <a:pPr indent="0" marL="0">
              <a:buNone/>
            </a:pPr>
            <a:r>
              <a:rPr lang="en-US" sz="1050" dirty="0">
                <a:solidFill>
                  <a:srgbClr val="4B5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String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160520" y="1417320"/>
            <a:ext cx="20574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D7DEEF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160520" y="1417320"/>
            <a:ext cx="20574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15" name="Shape 12"/>
          <p:cNvSpPr/>
          <p:nvPr/>
        </p:nvSpPr>
        <p:spPr>
          <a:xfrm>
            <a:off x="4160520" y="1764792"/>
            <a:ext cx="2057400" cy="109728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16" name="Image 1" descr="icons_ta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248" y="1527048"/>
            <a:ext cx="237744" cy="23774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599432" y="14173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4325112" y="1874520"/>
            <a:ext cx="1764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 </a:t>
            </a:r>
            <a:pPr indent="0" marL="0">
              <a:buNone/>
            </a:pPr>
            <a:r>
              <a:rPr lang="en-US" sz="1050" dirty="0">
                <a:solidFill>
                  <a:srgbClr val="4B5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String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4325112" y="2130552"/>
            <a:ext cx="1764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 </a:t>
            </a:r>
            <a:pPr indent="0" marL="0">
              <a:buNone/>
            </a:pPr>
            <a:r>
              <a:rPr lang="en-US" sz="1050" dirty="0">
                <a:solidFill>
                  <a:srgbClr val="4B5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String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685800" y="3977640"/>
            <a:ext cx="2331720" cy="2121408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5875">
            <a:solidFill>
              <a:srgbClr val="D7DEEF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85800" y="3977640"/>
            <a:ext cx="233172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22" name="Shape 18"/>
          <p:cNvSpPr/>
          <p:nvPr/>
        </p:nvSpPr>
        <p:spPr>
          <a:xfrm>
            <a:off x="685800" y="4325112"/>
            <a:ext cx="2331720" cy="109728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23" name="Image 2" descr="icons_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4087368"/>
            <a:ext cx="237744" cy="23774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124712" y="39776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850392" y="4434840"/>
            <a:ext cx="2039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 </a:t>
            </a:r>
            <a:pPr indent="0" marL="0">
              <a:buNone/>
            </a:pPr>
            <a:r>
              <a:rPr lang="en-US" sz="1050" dirty="0">
                <a:solidFill>
                  <a:srgbClr val="4B5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String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850392" y="4690872"/>
            <a:ext cx="2039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username  </a:t>
            </a:r>
            <a:pPr indent="0" marL="0">
              <a:buNone/>
            </a:pPr>
            <a:r>
              <a:rPr lang="en-US" sz="1050" dirty="0">
                <a:solidFill>
                  <a:srgbClr val="4B5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String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850392" y="4946904"/>
            <a:ext cx="2039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  </a:t>
            </a:r>
            <a:pPr indent="0" marL="0">
              <a:buNone/>
            </a:pPr>
            <a:r>
              <a:rPr lang="en-US" sz="1050" dirty="0">
                <a:solidFill>
                  <a:srgbClr val="4B5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String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850392" y="5202936"/>
            <a:ext cx="2039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  </a:t>
            </a:r>
            <a:pPr indent="0" marL="0">
              <a:buNone/>
            </a:pPr>
            <a:r>
              <a:rPr lang="en-US" sz="1050" dirty="0">
                <a:solidFill>
                  <a:srgbClr val="4B5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String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850392" y="5458968"/>
            <a:ext cx="2039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  </a:t>
            </a:r>
            <a:pPr indent="0" marL="0">
              <a:buNone/>
            </a:pPr>
            <a:r>
              <a:rPr lang="en-US" sz="1050" dirty="0">
                <a:solidFill>
                  <a:srgbClr val="4B5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String</a:t>
            </a:r>
            <a:endParaRPr lang="en-US" sz="1050" dirty="0"/>
          </a:p>
        </p:txBody>
      </p:sp>
      <p:sp>
        <p:nvSpPr>
          <p:cNvPr id="30" name="Text 25"/>
          <p:cNvSpPr/>
          <p:nvPr/>
        </p:nvSpPr>
        <p:spPr>
          <a:xfrm>
            <a:off x="850392" y="5715000"/>
            <a:ext cx="2039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balance  </a:t>
            </a:r>
            <a:pPr indent="0" marL="0">
              <a:buNone/>
            </a:pPr>
            <a:r>
              <a:rPr lang="en-US" sz="1050" dirty="0">
                <a:solidFill>
                  <a:srgbClr val="4B5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double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4160520" y="3246120"/>
            <a:ext cx="2606040" cy="160934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875">
            <a:solidFill>
              <a:srgbClr val="D7DEEF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4160520" y="3246120"/>
            <a:ext cx="260604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33" name="Shape 28"/>
          <p:cNvSpPr/>
          <p:nvPr/>
        </p:nvSpPr>
        <p:spPr>
          <a:xfrm>
            <a:off x="4160520" y="3593592"/>
            <a:ext cx="2606040" cy="109728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34" name="Image 3" descr="icons_lay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0248" y="3355848"/>
            <a:ext cx="237744" cy="237744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4599432" y="32461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MerchantStock</a:t>
            </a:r>
            <a:endParaRPr lang="en-US" sz="1400" dirty="0"/>
          </a:p>
        </p:txBody>
      </p:sp>
      <p:sp>
        <p:nvSpPr>
          <p:cNvPr id="36" name="Text 30"/>
          <p:cNvSpPr/>
          <p:nvPr/>
        </p:nvSpPr>
        <p:spPr>
          <a:xfrm>
            <a:off x="4325112" y="3703320"/>
            <a:ext cx="2313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 </a:t>
            </a:r>
            <a:pPr indent="0" marL="0">
              <a:buNone/>
            </a:pPr>
            <a:r>
              <a:rPr lang="en-US" sz="1050" dirty="0">
                <a:solidFill>
                  <a:srgbClr val="4B5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String</a:t>
            </a:r>
            <a:endParaRPr lang="en-US" sz="1050" dirty="0"/>
          </a:p>
        </p:txBody>
      </p:sp>
      <p:sp>
        <p:nvSpPr>
          <p:cNvPr id="37" name="Text 31"/>
          <p:cNvSpPr/>
          <p:nvPr/>
        </p:nvSpPr>
        <p:spPr>
          <a:xfrm>
            <a:off x="4325112" y="3959352"/>
            <a:ext cx="2313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productid  </a:t>
            </a:r>
            <a:pPr indent="0" marL="0">
              <a:buNone/>
            </a:pPr>
            <a:r>
              <a:rPr lang="en-US" sz="1050" dirty="0">
                <a:solidFill>
                  <a:srgbClr val="4B5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String</a:t>
            </a:r>
            <a:endParaRPr lang="en-US" sz="1050" dirty="0"/>
          </a:p>
        </p:txBody>
      </p:sp>
      <p:sp>
        <p:nvSpPr>
          <p:cNvPr id="38" name="Text 32"/>
          <p:cNvSpPr/>
          <p:nvPr/>
        </p:nvSpPr>
        <p:spPr>
          <a:xfrm>
            <a:off x="4325112" y="4215384"/>
            <a:ext cx="2313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merchantid  </a:t>
            </a:r>
            <a:pPr indent="0" marL="0">
              <a:buNone/>
            </a:pPr>
            <a:r>
              <a:rPr lang="en-US" sz="1050" dirty="0">
                <a:solidFill>
                  <a:srgbClr val="4B5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String</a:t>
            </a:r>
            <a:endParaRPr lang="en-US" sz="1050" dirty="0"/>
          </a:p>
        </p:txBody>
      </p:sp>
      <p:sp>
        <p:nvSpPr>
          <p:cNvPr id="39" name="Text 33"/>
          <p:cNvSpPr/>
          <p:nvPr/>
        </p:nvSpPr>
        <p:spPr>
          <a:xfrm>
            <a:off x="4325112" y="4471416"/>
            <a:ext cx="2313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stock  </a:t>
            </a:r>
            <a:pPr indent="0" marL="0">
              <a:buNone/>
            </a:pPr>
            <a:r>
              <a:rPr lang="en-US" sz="1050" dirty="0">
                <a:solidFill>
                  <a:srgbClr val="4B5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Integer</a:t>
            </a:r>
            <a:endParaRPr lang="en-US" sz="1050" dirty="0"/>
          </a:p>
        </p:txBody>
      </p:sp>
      <p:sp>
        <p:nvSpPr>
          <p:cNvPr id="40" name="Shape 34"/>
          <p:cNvSpPr/>
          <p:nvPr/>
        </p:nvSpPr>
        <p:spPr>
          <a:xfrm>
            <a:off x="7635240" y="3246120"/>
            <a:ext cx="2011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D7DEEF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41" name="Shape 35"/>
          <p:cNvSpPr/>
          <p:nvPr/>
        </p:nvSpPr>
        <p:spPr>
          <a:xfrm>
            <a:off x="7635240" y="324612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42" name="Shape 36"/>
          <p:cNvSpPr/>
          <p:nvPr/>
        </p:nvSpPr>
        <p:spPr>
          <a:xfrm>
            <a:off x="7635240" y="3593592"/>
            <a:ext cx="2011680" cy="109728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43" name="Image 4" descr="icons_shoppingba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4968" y="3355848"/>
            <a:ext cx="237744" cy="237744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8074152" y="32461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</a:t>
            </a:r>
            <a:endParaRPr lang="en-US" sz="1400" dirty="0"/>
          </a:p>
        </p:txBody>
      </p:sp>
      <p:sp>
        <p:nvSpPr>
          <p:cNvPr id="45" name="Text 38"/>
          <p:cNvSpPr/>
          <p:nvPr/>
        </p:nvSpPr>
        <p:spPr>
          <a:xfrm>
            <a:off x="7799832" y="3703320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 </a:t>
            </a:r>
            <a:pPr indent="0" marL="0">
              <a:buNone/>
            </a:pPr>
            <a:r>
              <a:rPr lang="en-US" sz="1050" dirty="0">
                <a:solidFill>
                  <a:srgbClr val="4B5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String</a:t>
            </a:r>
            <a:endParaRPr lang="en-US" sz="1050" dirty="0"/>
          </a:p>
        </p:txBody>
      </p:sp>
      <p:sp>
        <p:nvSpPr>
          <p:cNvPr id="46" name="Text 39"/>
          <p:cNvSpPr/>
          <p:nvPr/>
        </p:nvSpPr>
        <p:spPr>
          <a:xfrm>
            <a:off x="7799832" y="3959352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 </a:t>
            </a:r>
            <a:pPr indent="0" marL="0">
              <a:buNone/>
            </a:pPr>
            <a:r>
              <a:rPr lang="en-US" sz="1050" dirty="0">
                <a:solidFill>
                  <a:srgbClr val="4B5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String</a:t>
            </a:r>
            <a:endParaRPr lang="en-US" sz="1050" dirty="0"/>
          </a:p>
        </p:txBody>
      </p:sp>
      <p:sp>
        <p:nvSpPr>
          <p:cNvPr id="47" name="Shape 40"/>
          <p:cNvSpPr/>
          <p:nvPr/>
        </p:nvSpPr>
        <p:spPr>
          <a:xfrm>
            <a:off x="3017520" y="1691640"/>
            <a:ext cx="1143000" cy="0"/>
          </a:xfrm>
          <a:prstGeom prst="line">
            <a:avLst/>
          </a:prstGeom>
          <a:noFill/>
          <a:ln w="19050">
            <a:solidFill>
              <a:srgbClr val="9FADD6"/>
            </a:solidFill>
            <a:prstDash val="solid"/>
          </a:ln>
        </p:spPr>
      </p:sp>
      <p:sp>
        <p:nvSpPr>
          <p:cNvPr id="48" name="Shape 41"/>
          <p:cNvSpPr/>
          <p:nvPr/>
        </p:nvSpPr>
        <p:spPr>
          <a:xfrm>
            <a:off x="3063240" y="1490472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EDF2FC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3063240" y="1490472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belongs to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 flipV="1">
            <a:off x="1847088" y="2834640"/>
            <a:ext cx="0" cy="1143000"/>
          </a:xfrm>
          <a:prstGeom prst="line">
            <a:avLst/>
          </a:prstGeom>
          <a:noFill/>
          <a:ln w="19050">
            <a:solidFill>
              <a:srgbClr val="9FADD6"/>
            </a:solidFill>
            <a:prstDash val="solid"/>
          </a:ln>
        </p:spPr>
      </p:sp>
      <p:sp>
        <p:nvSpPr>
          <p:cNvPr id="51" name="Shape 44"/>
          <p:cNvSpPr/>
          <p:nvPr/>
        </p:nvSpPr>
        <p:spPr>
          <a:xfrm>
            <a:off x="1234440" y="324612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EDF2FC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52" name="Text 45"/>
          <p:cNvSpPr/>
          <p:nvPr/>
        </p:nvSpPr>
        <p:spPr>
          <a:xfrm>
            <a:off x="1234440" y="324612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</a:t>
            </a:r>
            <a:endParaRPr lang="en-US" sz="1000" dirty="0"/>
          </a:p>
        </p:txBody>
      </p:sp>
      <p:sp>
        <p:nvSpPr>
          <p:cNvPr id="53" name="Shape 46"/>
          <p:cNvSpPr/>
          <p:nvPr/>
        </p:nvSpPr>
        <p:spPr>
          <a:xfrm>
            <a:off x="3017520" y="2377440"/>
            <a:ext cx="1143000" cy="1280160"/>
          </a:xfrm>
          <a:prstGeom prst="line">
            <a:avLst/>
          </a:prstGeom>
          <a:noFill/>
          <a:ln w="19050">
            <a:solidFill>
              <a:srgbClr val="9FADD6"/>
            </a:solidFill>
            <a:prstDash val="solid"/>
          </a:ln>
        </p:spPr>
      </p:sp>
      <p:sp>
        <p:nvSpPr>
          <p:cNvPr id="54" name="Shape 47"/>
          <p:cNvSpPr/>
          <p:nvPr/>
        </p:nvSpPr>
        <p:spPr>
          <a:xfrm>
            <a:off x="3246120" y="278892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EDF2FC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55" name="Text 48"/>
          <p:cNvSpPr/>
          <p:nvPr/>
        </p:nvSpPr>
        <p:spPr>
          <a:xfrm>
            <a:off x="3246120" y="278892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by</a:t>
            </a:r>
            <a:endParaRPr lang="en-US" sz="1000" dirty="0"/>
          </a:p>
        </p:txBody>
      </p:sp>
      <p:sp>
        <p:nvSpPr>
          <p:cNvPr id="56" name="Shape 49"/>
          <p:cNvSpPr/>
          <p:nvPr/>
        </p:nvSpPr>
        <p:spPr>
          <a:xfrm>
            <a:off x="6766560" y="3840480"/>
            <a:ext cx="868680" cy="0"/>
          </a:xfrm>
          <a:prstGeom prst="line">
            <a:avLst/>
          </a:prstGeom>
          <a:noFill/>
          <a:ln w="19050">
            <a:solidFill>
              <a:srgbClr val="9FADD6"/>
            </a:solidFill>
            <a:prstDash val="solid"/>
          </a:ln>
        </p:spPr>
      </p:sp>
      <p:sp>
        <p:nvSpPr>
          <p:cNvPr id="57" name="Shape 50"/>
          <p:cNvSpPr/>
          <p:nvPr/>
        </p:nvSpPr>
        <p:spPr>
          <a:xfrm>
            <a:off x="6537960" y="3639312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EDF2FC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58" name="Text 51"/>
          <p:cNvSpPr/>
          <p:nvPr/>
        </p:nvSpPr>
        <p:spPr>
          <a:xfrm>
            <a:off x="6537960" y="363931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</a:t>
            </a:r>
            <a:endParaRPr lang="en-US" sz="1000" dirty="0"/>
          </a:p>
        </p:txBody>
      </p:sp>
      <p:sp>
        <p:nvSpPr>
          <p:cNvPr id="59" name="Text 5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0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1  •  UML &amp; EXTRA ENDPOINTS</a:t>
            </a:r>
            <a:endParaRPr lang="en-US" sz="900" dirty="0"/>
          </a:p>
        </p:txBody>
      </p:sp>
      <p:sp>
        <p:nvSpPr>
          <p:cNvPr id="60" name="Text 53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ENDPOINT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1  •  Enhancement to the core CRUD API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144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61872" y="877824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 Product Across Merchants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261872" y="1371600"/>
            <a:ext cx="566928" cy="310896"/>
          </a:xfrm>
          <a:prstGeom prst="roundRect">
            <a:avLst>
              <a:gd name="adj" fmla="val 50000"/>
            </a:avLst>
          </a:prstGeom>
          <a:solidFill>
            <a:srgbClr val="1F6F50"/>
          </a:solidFill>
          <a:ln/>
        </p:spPr>
      </p:sp>
      <p:sp>
        <p:nvSpPr>
          <p:cNvPr id="8" name="Text 6"/>
          <p:cNvSpPr/>
          <p:nvPr/>
        </p:nvSpPr>
        <p:spPr>
          <a:xfrm>
            <a:off x="1261872" y="1371600"/>
            <a:ext cx="5669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01952" y="1371600"/>
            <a:ext cx="2975458" cy="310896"/>
          </a:xfrm>
          <a:prstGeom prst="roundRect">
            <a:avLst>
              <a:gd name="adj" fmla="val 50000"/>
            </a:avLst>
          </a:prstGeom>
          <a:solidFill>
            <a:srgbClr val="EDF2FC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01952" y="1371600"/>
            <a:ext cx="297545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/api/v1/stock/product/{productId}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829800" y="457200"/>
            <a:ext cx="201168" cy="20116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Shape 10"/>
          <p:cNvSpPr/>
          <p:nvPr/>
        </p:nvSpPr>
        <p:spPr>
          <a:xfrm>
            <a:off x="10140696" y="457200"/>
            <a:ext cx="146304" cy="146304"/>
          </a:xfrm>
          <a:prstGeom prst="ellipse">
            <a:avLst/>
          </a:prstGeom>
          <a:solidFill>
            <a:srgbClr val="D7DEEF"/>
          </a:solidFill>
          <a:ln/>
        </p:spPr>
      </p:sp>
      <p:sp>
        <p:nvSpPr>
          <p:cNvPr id="13" name="Shape 11"/>
          <p:cNvSpPr/>
          <p:nvPr/>
        </p:nvSpPr>
        <p:spPr>
          <a:xfrm>
            <a:off x="10451592" y="457200"/>
            <a:ext cx="146304" cy="146304"/>
          </a:xfrm>
          <a:prstGeom prst="ellipse">
            <a:avLst/>
          </a:prstGeom>
          <a:solidFill>
            <a:srgbClr val="D7DEEF"/>
          </a:solidFill>
          <a:ln/>
        </p:spPr>
      </p:sp>
      <p:sp>
        <p:nvSpPr>
          <p:cNvPr id="14" name="Shape 12"/>
          <p:cNvSpPr/>
          <p:nvPr/>
        </p:nvSpPr>
        <p:spPr>
          <a:xfrm>
            <a:off x="10762488" y="457200"/>
            <a:ext cx="146304" cy="146304"/>
          </a:xfrm>
          <a:prstGeom prst="ellipse">
            <a:avLst/>
          </a:prstGeom>
          <a:solidFill>
            <a:srgbClr val="D7DEEF"/>
          </a:solidFill>
          <a:ln/>
        </p:spPr>
      </p:sp>
      <p:sp>
        <p:nvSpPr>
          <p:cNvPr id="15" name="Shape 13"/>
          <p:cNvSpPr/>
          <p:nvPr/>
        </p:nvSpPr>
        <p:spPr>
          <a:xfrm>
            <a:off x="11073384" y="457200"/>
            <a:ext cx="146304" cy="146304"/>
          </a:xfrm>
          <a:prstGeom prst="ellipse">
            <a:avLst/>
          </a:prstGeom>
          <a:solidFill>
            <a:srgbClr val="D7DEEF"/>
          </a:solidFill>
          <a:ln/>
        </p:spPr>
      </p:sp>
      <p:sp>
        <p:nvSpPr>
          <p:cNvPr id="16" name="Text 14"/>
          <p:cNvSpPr/>
          <p:nvPr/>
        </p:nvSpPr>
        <p:spPr>
          <a:xfrm>
            <a:off x="9692640" y="71323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150" kern="0" dirty="0">
                <a:solidFill>
                  <a:srgbClr val="4B5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8640" y="1920240"/>
            <a:ext cx="5989320" cy="4434840"/>
          </a:xfrm>
          <a:prstGeom prst="roundRect">
            <a:avLst>
              <a:gd name="adj" fmla="val 1856"/>
            </a:avLst>
          </a:prstGeom>
          <a:solidFill>
            <a:srgbClr val="10133A"/>
          </a:solidFill>
          <a:ln/>
          <a:effectLst>
            <a:outerShdw sx="100000" sy="100000" kx="0" ky="0" algn="bl" rotWithShape="0" blurRad="127000" dist="50800" dir="5400000">
              <a:srgbClr val="10133A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49808" y="2084832"/>
            <a:ext cx="118872" cy="118872"/>
          </a:xfrm>
          <a:prstGeom prst="ellipse">
            <a:avLst/>
          </a:prstGeom>
          <a:solidFill>
            <a:srgbClr val="E86A5C"/>
          </a:solidFill>
          <a:ln/>
        </p:spPr>
      </p:sp>
      <p:sp>
        <p:nvSpPr>
          <p:cNvPr id="19" name="Shape 17"/>
          <p:cNvSpPr/>
          <p:nvPr/>
        </p:nvSpPr>
        <p:spPr>
          <a:xfrm>
            <a:off x="969264" y="2084832"/>
            <a:ext cx="118872" cy="118872"/>
          </a:xfrm>
          <a:prstGeom prst="ellipse">
            <a:avLst/>
          </a:prstGeom>
          <a:solidFill>
            <a:srgbClr val="E8C25C"/>
          </a:solidFill>
          <a:ln/>
        </p:spPr>
      </p:sp>
      <p:sp>
        <p:nvSpPr>
          <p:cNvPr id="20" name="Shape 18"/>
          <p:cNvSpPr/>
          <p:nvPr/>
        </p:nvSpPr>
        <p:spPr>
          <a:xfrm>
            <a:off x="1188720" y="2084832"/>
            <a:ext cx="118872" cy="118872"/>
          </a:xfrm>
          <a:prstGeom prst="ellipse">
            <a:avLst/>
          </a:prstGeom>
          <a:solidFill>
            <a:srgbClr val="5CB85C"/>
          </a:solidFill>
          <a:ln/>
        </p:spPr>
      </p:sp>
      <p:sp>
        <p:nvSpPr>
          <p:cNvPr id="21" name="Text 19"/>
          <p:cNvSpPr/>
          <p:nvPr/>
        </p:nvSpPr>
        <p:spPr>
          <a:xfrm>
            <a:off x="1554480" y="2039112"/>
            <a:ext cx="4617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8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MerchantStockController.java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2960" y="2359152"/>
            <a:ext cx="54864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ArrayList&lt;MerchantStock&gt;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getMerchantStocksByProduct(String productid) {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boolean productExists = false;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(Product p : productService.getProduct()) {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(p.getId().equals(productid)) {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productExists = true;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break;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(!productExists) { return null; }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ArrayList&lt;MerchantStock&gt; result = new ArrayList&lt;&gt;();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(MerchantStock stock : merchantStocks) {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(stock.getProductid().equals(productid)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&amp;&amp; stock.getStock() &gt; 0) {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result.add(stock);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result;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766560" y="1920240"/>
            <a:ext cx="4892040" cy="1874520"/>
          </a:xfrm>
          <a:prstGeom prst="roundRect">
            <a:avLst>
              <a:gd name="adj" fmla="val 4878"/>
            </a:avLst>
          </a:prstGeom>
          <a:solidFill>
            <a:srgbClr val="EDF2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24" name="Image 0" descr="icons_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28" y="2103120"/>
            <a:ext cx="292608" cy="292608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7360920" y="2048256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7040880" y="2487168"/>
            <a:ext cx="4343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E3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every merchant-stock record for one product and returns only the merchants where stock is greater than zero.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6766560" y="3977640"/>
            <a:ext cx="4892040" cy="2377440"/>
          </a:xfrm>
          <a:prstGeom prst="roundRect">
            <a:avLst>
              <a:gd name="adj" fmla="val 3846"/>
            </a:avLst>
          </a:prstGeom>
          <a:solidFill>
            <a:srgbClr val="1E2761"/>
          </a:solidFill>
          <a:ln/>
        </p:spPr>
      </p:sp>
      <p:pic>
        <p:nvPicPr>
          <p:cNvPr id="28" name="Image 1" descr="icons_trend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728" y="4160520"/>
            <a:ext cx="292608" cy="292608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360920" y="4105656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Enhances the System</a:t>
            </a:r>
            <a:endParaRPr lang="en-US" sz="1500" dirty="0"/>
          </a:p>
        </p:txBody>
      </p:sp>
      <p:sp>
        <p:nvSpPr>
          <p:cNvPr id="30" name="Text 26"/>
          <p:cNvSpPr/>
          <p:nvPr/>
        </p:nvSpPr>
        <p:spPr>
          <a:xfrm>
            <a:off x="7040880" y="4544568"/>
            <a:ext cx="43434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✦"/>
            </a:pPr>
            <a:r>
              <a:rPr lang="en-US" sz="1250" dirty="0">
                <a:solidFill>
                  <a:srgbClr val="EDF2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users a multi-merchant view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✦"/>
            </a:pPr>
            <a:r>
              <a:rPr lang="en-US" sz="1250" dirty="0">
                <a:solidFill>
                  <a:srgbClr val="EDF2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price/availability comparison possible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✦"/>
            </a:pPr>
            <a:r>
              <a:rPr lang="en-US" sz="1250" dirty="0">
                <a:solidFill>
                  <a:srgbClr val="EDF2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better purchase decisions</a:t>
            </a:r>
            <a:endParaRPr lang="en-US" sz="1250" dirty="0"/>
          </a:p>
        </p:txBody>
      </p:sp>
      <p:sp>
        <p:nvSpPr>
          <p:cNvPr id="31" name="Text 2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0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1  •  UML &amp; EXTRA ENDPOINTS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ENDPOINT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2  •  Enhancement to the core CRUD API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144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61872" y="877824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Low-Stock Discounted Price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261872" y="1371600"/>
            <a:ext cx="566928" cy="310896"/>
          </a:xfrm>
          <a:prstGeom prst="roundRect">
            <a:avLst>
              <a:gd name="adj" fmla="val 50000"/>
            </a:avLst>
          </a:prstGeom>
          <a:solidFill>
            <a:srgbClr val="1F6F50"/>
          </a:solidFill>
          <a:ln/>
        </p:spPr>
      </p:sp>
      <p:sp>
        <p:nvSpPr>
          <p:cNvPr id="8" name="Text 6"/>
          <p:cNvSpPr/>
          <p:nvPr/>
        </p:nvSpPr>
        <p:spPr>
          <a:xfrm>
            <a:off x="1261872" y="1371600"/>
            <a:ext cx="5669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01952" y="1371600"/>
            <a:ext cx="4584802" cy="310896"/>
          </a:xfrm>
          <a:prstGeom prst="roundRect">
            <a:avLst>
              <a:gd name="adj" fmla="val 50000"/>
            </a:avLst>
          </a:prstGeom>
          <a:solidFill>
            <a:srgbClr val="EDF2FC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01952" y="1371600"/>
            <a:ext cx="458480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/api/v1/stock/lowstock-price/{productid}/{merchantid}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829800" y="457200"/>
            <a:ext cx="146304" cy="146304"/>
          </a:xfrm>
          <a:prstGeom prst="ellipse">
            <a:avLst/>
          </a:prstGeom>
          <a:solidFill>
            <a:srgbClr val="D7DEEF"/>
          </a:solidFill>
          <a:ln/>
        </p:spPr>
      </p:sp>
      <p:sp>
        <p:nvSpPr>
          <p:cNvPr id="12" name="Shape 10"/>
          <p:cNvSpPr/>
          <p:nvPr/>
        </p:nvSpPr>
        <p:spPr>
          <a:xfrm>
            <a:off x="10140696" y="457200"/>
            <a:ext cx="201168" cy="20116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3" name="Shape 11"/>
          <p:cNvSpPr/>
          <p:nvPr/>
        </p:nvSpPr>
        <p:spPr>
          <a:xfrm>
            <a:off x="10451592" y="457200"/>
            <a:ext cx="146304" cy="146304"/>
          </a:xfrm>
          <a:prstGeom prst="ellipse">
            <a:avLst/>
          </a:prstGeom>
          <a:solidFill>
            <a:srgbClr val="D7DEEF"/>
          </a:solidFill>
          <a:ln/>
        </p:spPr>
      </p:sp>
      <p:sp>
        <p:nvSpPr>
          <p:cNvPr id="14" name="Shape 12"/>
          <p:cNvSpPr/>
          <p:nvPr/>
        </p:nvSpPr>
        <p:spPr>
          <a:xfrm>
            <a:off x="10762488" y="457200"/>
            <a:ext cx="146304" cy="146304"/>
          </a:xfrm>
          <a:prstGeom prst="ellipse">
            <a:avLst/>
          </a:prstGeom>
          <a:solidFill>
            <a:srgbClr val="D7DEEF"/>
          </a:solidFill>
          <a:ln/>
        </p:spPr>
      </p:sp>
      <p:sp>
        <p:nvSpPr>
          <p:cNvPr id="15" name="Shape 13"/>
          <p:cNvSpPr/>
          <p:nvPr/>
        </p:nvSpPr>
        <p:spPr>
          <a:xfrm>
            <a:off x="11073384" y="457200"/>
            <a:ext cx="146304" cy="146304"/>
          </a:xfrm>
          <a:prstGeom prst="ellipse">
            <a:avLst/>
          </a:prstGeom>
          <a:solidFill>
            <a:srgbClr val="D7DEEF"/>
          </a:solidFill>
          <a:ln/>
        </p:spPr>
      </p:sp>
      <p:sp>
        <p:nvSpPr>
          <p:cNvPr id="16" name="Text 14"/>
          <p:cNvSpPr/>
          <p:nvPr/>
        </p:nvSpPr>
        <p:spPr>
          <a:xfrm>
            <a:off x="9692640" y="71323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150" kern="0" dirty="0">
                <a:solidFill>
                  <a:srgbClr val="4B5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8640" y="1920240"/>
            <a:ext cx="5989320" cy="4434840"/>
          </a:xfrm>
          <a:prstGeom prst="roundRect">
            <a:avLst>
              <a:gd name="adj" fmla="val 1856"/>
            </a:avLst>
          </a:prstGeom>
          <a:solidFill>
            <a:srgbClr val="10133A"/>
          </a:solidFill>
          <a:ln/>
          <a:effectLst>
            <a:outerShdw sx="100000" sy="100000" kx="0" ky="0" algn="bl" rotWithShape="0" blurRad="127000" dist="50800" dir="5400000">
              <a:srgbClr val="10133A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49808" y="2084832"/>
            <a:ext cx="118872" cy="118872"/>
          </a:xfrm>
          <a:prstGeom prst="ellipse">
            <a:avLst/>
          </a:prstGeom>
          <a:solidFill>
            <a:srgbClr val="E86A5C"/>
          </a:solidFill>
          <a:ln/>
        </p:spPr>
      </p:sp>
      <p:sp>
        <p:nvSpPr>
          <p:cNvPr id="19" name="Shape 17"/>
          <p:cNvSpPr/>
          <p:nvPr/>
        </p:nvSpPr>
        <p:spPr>
          <a:xfrm>
            <a:off x="969264" y="2084832"/>
            <a:ext cx="118872" cy="118872"/>
          </a:xfrm>
          <a:prstGeom prst="ellipse">
            <a:avLst/>
          </a:prstGeom>
          <a:solidFill>
            <a:srgbClr val="E8C25C"/>
          </a:solidFill>
          <a:ln/>
        </p:spPr>
      </p:sp>
      <p:sp>
        <p:nvSpPr>
          <p:cNvPr id="20" name="Shape 18"/>
          <p:cNvSpPr/>
          <p:nvPr/>
        </p:nvSpPr>
        <p:spPr>
          <a:xfrm>
            <a:off x="1188720" y="2084832"/>
            <a:ext cx="118872" cy="118872"/>
          </a:xfrm>
          <a:prstGeom prst="ellipse">
            <a:avLst/>
          </a:prstGeom>
          <a:solidFill>
            <a:srgbClr val="5CB85C"/>
          </a:solidFill>
          <a:ln/>
        </p:spPr>
      </p:sp>
      <p:sp>
        <p:nvSpPr>
          <p:cNvPr id="21" name="Text 19"/>
          <p:cNvSpPr/>
          <p:nvPr/>
        </p:nvSpPr>
        <p:spPr>
          <a:xfrm>
            <a:off x="1554480" y="2039112"/>
            <a:ext cx="4617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8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MerchantStockController.java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2960" y="2359152"/>
            <a:ext cx="54864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static final double LowStockDiscount = 0.10;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static final int LowStockLimit = 5;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Double getLowStockDiscountedPrice(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productId, String merchantId) {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(MerchantStock stock : merchantStocks) {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(stock.getProductid().equals(productId)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&amp;&amp; stock.getMerchantid().equals(merchantId)) {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Product product = findProduct(productId);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(product == null) { return null; }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(stock.getStock() &gt; 0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&amp;&amp; stock.getStock() &lt;= LowStockLimit) {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product.getPrice()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* (1 - LowStockDiscount);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product.getPrice();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null;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766560" y="1920240"/>
            <a:ext cx="4892040" cy="1874520"/>
          </a:xfrm>
          <a:prstGeom prst="roundRect">
            <a:avLst>
              <a:gd name="adj" fmla="val 4878"/>
            </a:avLst>
          </a:prstGeom>
          <a:solidFill>
            <a:srgbClr val="EDF2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24" name="Image 0" descr="icons_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28" y="2103120"/>
            <a:ext cx="292608" cy="292608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7360920" y="2048256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7040880" y="2487168"/>
            <a:ext cx="4343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E3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a 10% discount automatically when a merchant's stock for a product is between 1 and 5 units; otherwise it returns the normal price.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6766560" y="3977640"/>
            <a:ext cx="4892040" cy="2377440"/>
          </a:xfrm>
          <a:prstGeom prst="roundRect">
            <a:avLst>
              <a:gd name="adj" fmla="val 3846"/>
            </a:avLst>
          </a:prstGeom>
          <a:solidFill>
            <a:srgbClr val="1E2761"/>
          </a:solidFill>
          <a:ln/>
        </p:spPr>
      </p:sp>
      <p:pic>
        <p:nvPicPr>
          <p:cNvPr id="28" name="Image 1" descr="icons_trend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728" y="4160520"/>
            <a:ext cx="292608" cy="292608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360920" y="4105656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Enhances the System</a:t>
            </a:r>
            <a:endParaRPr lang="en-US" sz="1500" dirty="0"/>
          </a:p>
        </p:txBody>
      </p:sp>
      <p:sp>
        <p:nvSpPr>
          <p:cNvPr id="30" name="Text 26"/>
          <p:cNvSpPr/>
          <p:nvPr/>
        </p:nvSpPr>
        <p:spPr>
          <a:xfrm>
            <a:off x="7040880" y="4544568"/>
            <a:ext cx="43434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✦"/>
            </a:pPr>
            <a:r>
              <a:rPr lang="en-US" sz="1250" dirty="0">
                <a:solidFill>
                  <a:srgbClr val="EDF2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Encourages sales before stock runs out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✦"/>
            </a:pPr>
            <a:r>
              <a:rPr lang="en-US" sz="1250" dirty="0">
                <a:solidFill>
                  <a:srgbClr val="EDF2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slow-moving inventory</a:t>
            </a:r>
            <a:endParaRPr lang="en-US" sz="1250" dirty="0"/>
          </a:p>
        </p:txBody>
      </p:sp>
      <p:sp>
        <p:nvSpPr>
          <p:cNvPr id="31" name="Text 2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0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1  •  UML &amp; EXTRA ENDPOINTS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ENDPOINT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3  •  Enhancement to the core CRUD API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144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61872" y="877824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Products by Price Range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261872" y="1371600"/>
            <a:ext cx="566928" cy="310896"/>
          </a:xfrm>
          <a:prstGeom prst="roundRect">
            <a:avLst>
              <a:gd name="adj" fmla="val 50000"/>
            </a:avLst>
          </a:prstGeom>
          <a:solidFill>
            <a:srgbClr val="1F6F50"/>
          </a:solidFill>
          <a:ln/>
        </p:spPr>
      </p:sp>
      <p:sp>
        <p:nvSpPr>
          <p:cNvPr id="8" name="Text 6"/>
          <p:cNvSpPr/>
          <p:nvPr/>
        </p:nvSpPr>
        <p:spPr>
          <a:xfrm>
            <a:off x="1261872" y="1371600"/>
            <a:ext cx="5669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01952" y="1371600"/>
            <a:ext cx="4262933" cy="310896"/>
          </a:xfrm>
          <a:prstGeom prst="roundRect">
            <a:avLst>
              <a:gd name="adj" fmla="val 50000"/>
            </a:avLst>
          </a:prstGeom>
          <a:solidFill>
            <a:srgbClr val="EDF2FC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01952" y="1371600"/>
            <a:ext cx="4262933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/api/v1/product/price-range/{minPrice}/{maxPrice}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829800" y="457200"/>
            <a:ext cx="146304" cy="146304"/>
          </a:xfrm>
          <a:prstGeom prst="ellipse">
            <a:avLst/>
          </a:prstGeom>
          <a:solidFill>
            <a:srgbClr val="D7DEEF"/>
          </a:solidFill>
          <a:ln/>
        </p:spPr>
      </p:sp>
      <p:sp>
        <p:nvSpPr>
          <p:cNvPr id="12" name="Shape 10"/>
          <p:cNvSpPr/>
          <p:nvPr/>
        </p:nvSpPr>
        <p:spPr>
          <a:xfrm>
            <a:off x="10140696" y="457200"/>
            <a:ext cx="146304" cy="146304"/>
          </a:xfrm>
          <a:prstGeom prst="ellipse">
            <a:avLst/>
          </a:prstGeom>
          <a:solidFill>
            <a:srgbClr val="D7DEEF"/>
          </a:solidFill>
          <a:ln/>
        </p:spPr>
      </p:sp>
      <p:sp>
        <p:nvSpPr>
          <p:cNvPr id="13" name="Shape 11"/>
          <p:cNvSpPr/>
          <p:nvPr/>
        </p:nvSpPr>
        <p:spPr>
          <a:xfrm>
            <a:off x="10451592" y="457200"/>
            <a:ext cx="201168" cy="20116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4" name="Shape 12"/>
          <p:cNvSpPr/>
          <p:nvPr/>
        </p:nvSpPr>
        <p:spPr>
          <a:xfrm>
            <a:off x="10762488" y="457200"/>
            <a:ext cx="146304" cy="146304"/>
          </a:xfrm>
          <a:prstGeom prst="ellipse">
            <a:avLst/>
          </a:prstGeom>
          <a:solidFill>
            <a:srgbClr val="D7DEEF"/>
          </a:solidFill>
          <a:ln/>
        </p:spPr>
      </p:sp>
      <p:sp>
        <p:nvSpPr>
          <p:cNvPr id="15" name="Shape 13"/>
          <p:cNvSpPr/>
          <p:nvPr/>
        </p:nvSpPr>
        <p:spPr>
          <a:xfrm>
            <a:off x="11073384" y="457200"/>
            <a:ext cx="146304" cy="146304"/>
          </a:xfrm>
          <a:prstGeom prst="ellipse">
            <a:avLst/>
          </a:prstGeom>
          <a:solidFill>
            <a:srgbClr val="D7DEEF"/>
          </a:solidFill>
          <a:ln/>
        </p:spPr>
      </p:sp>
      <p:sp>
        <p:nvSpPr>
          <p:cNvPr id="16" name="Text 14"/>
          <p:cNvSpPr/>
          <p:nvPr/>
        </p:nvSpPr>
        <p:spPr>
          <a:xfrm>
            <a:off x="9692640" y="71323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150" kern="0" dirty="0">
                <a:solidFill>
                  <a:srgbClr val="4B5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8640" y="1920240"/>
            <a:ext cx="5989320" cy="4434840"/>
          </a:xfrm>
          <a:prstGeom prst="roundRect">
            <a:avLst>
              <a:gd name="adj" fmla="val 1856"/>
            </a:avLst>
          </a:prstGeom>
          <a:solidFill>
            <a:srgbClr val="10133A"/>
          </a:solidFill>
          <a:ln/>
          <a:effectLst>
            <a:outerShdw sx="100000" sy="100000" kx="0" ky="0" algn="bl" rotWithShape="0" blurRad="127000" dist="50800" dir="5400000">
              <a:srgbClr val="10133A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49808" y="2084832"/>
            <a:ext cx="118872" cy="118872"/>
          </a:xfrm>
          <a:prstGeom prst="ellipse">
            <a:avLst/>
          </a:prstGeom>
          <a:solidFill>
            <a:srgbClr val="E86A5C"/>
          </a:solidFill>
          <a:ln/>
        </p:spPr>
      </p:sp>
      <p:sp>
        <p:nvSpPr>
          <p:cNvPr id="19" name="Shape 17"/>
          <p:cNvSpPr/>
          <p:nvPr/>
        </p:nvSpPr>
        <p:spPr>
          <a:xfrm>
            <a:off x="969264" y="2084832"/>
            <a:ext cx="118872" cy="118872"/>
          </a:xfrm>
          <a:prstGeom prst="ellipse">
            <a:avLst/>
          </a:prstGeom>
          <a:solidFill>
            <a:srgbClr val="E8C25C"/>
          </a:solidFill>
          <a:ln/>
        </p:spPr>
      </p:sp>
      <p:sp>
        <p:nvSpPr>
          <p:cNvPr id="20" name="Shape 18"/>
          <p:cNvSpPr/>
          <p:nvPr/>
        </p:nvSpPr>
        <p:spPr>
          <a:xfrm>
            <a:off x="1188720" y="2084832"/>
            <a:ext cx="118872" cy="118872"/>
          </a:xfrm>
          <a:prstGeom prst="ellipse">
            <a:avLst/>
          </a:prstGeom>
          <a:solidFill>
            <a:srgbClr val="5CB85C"/>
          </a:solidFill>
          <a:ln/>
        </p:spPr>
      </p:sp>
      <p:sp>
        <p:nvSpPr>
          <p:cNvPr id="21" name="Text 19"/>
          <p:cNvSpPr/>
          <p:nvPr/>
        </p:nvSpPr>
        <p:spPr>
          <a:xfrm>
            <a:off x="1554480" y="2039112"/>
            <a:ext cx="4617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8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ProductController.java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2960" y="2359152"/>
            <a:ext cx="54864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ArrayList&lt;Product&gt; filterByPriceRange(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 minPrice, double maxPrice) {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ArrayList&lt;Product&gt; result = new ArrayList&lt;&gt;();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(Product product : products) {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(product.getPrice() &gt;= minPrice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&amp;&amp; product.getPrice() &lt;= maxPrice) {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result.add(product);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result;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766560" y="1920240"/>
            <a:ext cx="4892040" cy="1874520"/>
          </a:xfrm>
          <a:prstGeom prst="roundRect">
            <a:avLst>
              <a:gd name="adj" fmla="val 4878"/>
            </a:avLst>
          </a:prstGeom>
          <a:solidFill>
            <a:srgbClr val="EDF2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24" name="Image 0" descr="icons_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28" y="2103120"/>
            <a:ext cx="292608" cy="292608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7360920" y="2048256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7040880" y="2487168"/>
            <a:ext cx="4343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E3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every product whose price falls between the given minimum and maximum values.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6766560" y="3977640"/>
            <a:ext cx="4892040" cy="2377440"/>
          </a:xfrm>
          <a:prstGeom prst="roundRect">
            <a:avLst>
              <a:gd name="adj" fmla="val 3846"/>
            </a:avLst>
          </a:prstGeom>
          <a:solidFill>
            <a:srgbClr val="1E2761"/>
          </a:solidFill>
          <a:ln/>
        </p:spPr>
      </p:sp>
      <p:pic>
        <p:nvPicPr>
          <p:cNvPr id="28" name="Image 1" descr="icons_trend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728" y="4160520"/>
            <a:ext cx="292608" cy="292608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360920" y="4105656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Enhances the System</a:t>
            </a:r>
            <a:endParaRPr lang="en-US" sz="1500" dirty="0"/>
          </a:p>
        </p:txBody>
      </p:sp>
      <p:sp>
        <p:nvSpPr>
          <p:cNvPr id="30" name="Text 26"/>
          <p:cNvSpPr/>
          <p:nvPr/>
        </p:nvSpPr>
        <p:spPr>
          <a:xfrm>
            <a:off x="7040880" y="4544568"/>
            <a:ext cx="43434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✦"/>
            </a:pPr>
            <a:r>
              <a:rPr lang="en-US" sz="1250" dirty="0">
                <a:solidFill>
                  <a:srgbClr val="EDF2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users find products within a budget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✦"/>
            </a:pPr>
            <a:r>
              <a:rPr lang="en-US" sz="1250" dirty="0">
                <a:solidFill>
                  <a:srgbClr val="EDF2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product discovery faster</a:t>
            </a:r>
            <a:endParaRPr lang="en-US" sz="1250" dirty="0"/>
          </a:p>
        </p:txBody>
      </p:sp>
      <p:sp>
        <p:nvSpPr>
          <p:cNvPr id="31" name="Text 2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0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1  •  UML &amp; EXTRA ENDPOINTS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ENDPOINT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4  •  Enhancement to the core CRUD API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144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61872" y="877824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Products Out of Stock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261872" y="1371600"/>
            <a:ext cx="566928" cy="310896"/>
          </a:xfrm>
          <a:prstGeom prst="roundRect">
            <a:avLst>
              <a:gd name="adj" fmla="val 50000"/>
            </a:avLst>
          </a:prstGeom>
          <a:solidFill>
            <a:srgbClr val="1F6F50"/>
          </a:solidFill>
          <a:ln/>
        </p:spPr>
      </p:sp>
      <p:sp>
        <p:nvSpPr>
          <p:cNvPr id="8" name="Text 6"/>
          <p:cNvSpPr/>
          <p:nvPr/>
        </p:nvSpPr>
        <p:spPr>
          <a:xfrm>
            <a:off x="1261872" y="1371600"/>
            <a:ext cx="5669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01952" y="1371600"/>
            <a:ext cx="2573122" cy="310896"/>
          </a:xfrm>
          <a:prstGeom prst="roundRect">
            <a:avLst>
              <a:gd name="adj" fmla="val 50000"/>
            </a:avLst>
          </a:prstGeom>
          <a:solidFill>
            <a:srgbClr val="EDF2FC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01952" y="1371600"/>
            <a:ext cx="257312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/api/v1/product/out-of-stock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829800" y="457200"/>
            <a:ext cx="146304" cy="146304"/>
          </a:xfrm>
          <a:prstGeom prst="ellipse">
            <a:avLst/>
          </a:prstGeom>
          <a:solidFill>
            <a:srgbClr val="D7DEEF"/>
          </a:solidFill>
          <a:ln/>
        </p:spPr>
      </p:sp>
      <p:sp>
        <p:nvSpPr>
          <p:cNvPr id="12" name="Shape 10"/>
          <p:cNvSpPr/>
          <p:nvPr/>
        </p:nvSpPr>
        <p:spPr>
          <a:xfrm>
            <a:off x="10140696" y="457200"/>
            <a:ext cx="146304" cy="146304"/>
          </a:xfrm>
          <a:prstGeom prst="ellipse">
            <a:avLst/>
          </a:prstGeom>
          <a:solidFill>
            <a:srgbClr val="D7DEEF"/>
          </a:solidFill>
          <a:ln/>
        </p:spPr>
      </p:sp>
      <p:sp>
        <p:nvSpPr>
          <p:cNvPr id="13" name="Shape 11"/>
          <p:cNvSpPr/>
          <p:nvPr/>
        </p:nvSpPr>
        <p:spPr>
          <a:xfrm>
            <a:off x="10451592" y="457200"/>
            <a:ext cx="146304" cy="146304"/>
          </a:xfrm>
          <a:prstGeom prst="ellipse">
            <a:avLst/>
          </a:prstGeom>
          <a:solidFill>
            <a:srgbClr val="D7DEEF"/>
          </a:solidFill>
          <a:ln/>
        </p:spPr>
      </p:sp>
      <p:sp>
        <p:nvSpPr>
          <p:cNvPr id="14" name="Shape 12"/>
          <p:cNvSpPr/>
          <p:nvPr/>
        </p:nvSpPr>
        <p:spPr>
          <a:xfrm>
            <a:off x="10762488" y="457200"/>
            <a:ext cx="201168" cy="20116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5" name="Shape 13"/>
          <p:cNvSpPr/>
          <p:nvPr/>
        </p:nvSpPr>
        <p:spPr>
          <a:xfrm>
            <a:off x="11073384" y="457200"/>
            <a:ext cx="146304" cy="146304"/>
          </a:xfrm>
          <a:prstGeom prst="ellipse">
            <a:avLst/>
          </a:prstGeom>
          <a:solidFill>
            <a:srgbClr val="D7DEEF"/>
          </a:solidFill>
          <a:ln/>
        </p:spPr>
      </p:sp>
      <p:sp>
        <p:nvSpPr>
          <p:cNvPr id="16" name="Text 14"/>
          <p:cNvSpPr/>
          <p:nvPr/>
        </p:nvSpPr>
        <p:spPr>
          <a:xfrm>
            <a:off x="9692640" y="71323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150" kern="0" dirty="0">
                <a:solidFill>
                  <a:srgbClr val="4B5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8640" y="1920240"/>
            <a:ext cx="5989320" cy="4434840"/>
          </a:xfrm>
          <a:prstGeom prst="roundRect">
            <a:avLst>
              <a:gd name="adj" fmla="val 1856"/>
            </a:avLst>
          </a:prstGeom>
          <a:solidFill>
            <a:srgbClr val="10133A"/>
          </a:solidFill>
          <a:ln/>
          <a:effectLst>
            <a:outerShdw sx="100000" sy="100000" kx="0" ky="0" algn="bl" rotWithShape="0" blurRad="127000" dist="50800" dir="5400000">
              <a:srgbClr val="10133A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49808" y="2084832"/>
            <a:ext cx="118872" cy="118872"/>
          </a:xfrm>
          <a:prstGeom prst="ellipse">
            <a:avLst/>
          </a:prstGeom>
          <a:solidFill>
            <a:srgbClr val="E86A5C"/>
          </a:solidFill>
          <a:ln/>
        </p:spPr>
      </p:sp>
      <p:sp>
        <p:nvSpPr>
          <p:cNvPr id="19" name="Shape 17"/>
          <p:cNvSpPr/>
          <p:nvPr/>
        </p:nvSpPr>
        <p:spPr>
          <a:xfrm>
            <a:off x="969264" y="2084832"/>
            <a:ext cx="118872" cy="118872"/>
          </a:xfrm>
          <a:prstGeom prst="ellipse">
            <a:avLst/>
          </a:prstGeom>
          <a:solidFill>
            <a:srgbClr val="E8C25C"/>
          </a:solidFill>
          <a:ln/>
        </p:spPr>
      </p:sp>
      <p:sp>
        <p:nvSpPr>
          <p:cNvPr id="20" name="Shape 18"/>
          <p:cNvSpPr/>
          <p:nvPr/>
        </p:nvSpPr>
        <p:spPr>
          <a:xfrm>
            <a:off x="1188720" y="2084832"/>
            <a:ext cx="118872" cy="118872"/>
          </a:xfrm>
          <a:prstGeom prst="ellipse">
            <a:avLst/>
          </a:prstGeom>
          <a:solidFill>
            <a:srgbClr val="5CB85C"/>
          </a:solidFill>
          <a:ln/>
        </p:spPr>
      </p:sp>
      <p:sp>
        <p:nvSpPr>
          <p:cNvPr id="21" name="Text 19"/>
          <p:cNvSpPr/>
          <p:nvPr/>
        </p:nvSpPr>
        <p:spPr>
          <a:xfrm>
            <a:off x="1554480" y="2039112"/>
            <a:ext cx="4617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8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ProductController.java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2960" y="2359152"/>
            <a:ext cx="54864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ArrayList&lt;Product&gt; getOutOfStockProducts() {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ArrayList&lt;Product&gt; result = new ArrayList&lt;&gt;();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(Product product : productService.getProduct()) {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boolean foundMerchant = false;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boolean outOfStock = true;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(MerchantStock stock : merchantStocks) {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(stock.getProductid().equals(product.getId())) {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foundMerchant = true;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(stock.getStock() &gt; 0) {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outOfStock = false;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break;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(foundMerchant &amp;&amp; outOfStock) {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result.add(product);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result;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766560" y="1920240"/>
            <a:ext cx="4892040" cy="1874520"/>
          </a:xfrm>
          <a:prstGeom prst="roundRect">
            <a:avLst>
              <a:gd name="adj" fmla="val 4878"/>
            </a:avLst>
          </a:prstGeom>
          <a:solidFill>
            <a:srgbClr val="EDF2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24" name="Image 0" descr="icons_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28" y="2103120"/>
            <a:ext cx="292608" cy="292608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7360920" y="2048256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7040880" y="2487168"/>
            <a:ext cx="4343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E3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every MerchantStock record for each product. A product counts as out of stock only when merchant records exist and all of them show stock at or below zero.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6766560" y="3977640"/>
            <a:ext cx="4892040" cy="2377440"/>
          </a:xfrm>
          <a:prstGeom prst="roundRect">
            <a:avLst>
              <a:gd name="adj" fmla="val 3846"/>
            </a:avLst>
          </a:prstGeom>
          <a:solidFill>
            <a:srgbClr val="1E2761"/>
          </a:solidFill>
          <a:ln/>
        </p:spPr>
      </p:sp>
      <p:pic>
        <p:nvPicPr>
          <p:cNvPr id="28" name="Image 1" descr="icons_trend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728" y="4160520"/>
            <a:ext cx="292608" cy="292608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360920" y="4105656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Enhances the System</a:t>
            </a:r>
            <a:endParaRPr lang="en-US" sz="1500" dirty="0"/>
          </a:p>
        </p:txBody>
      </p:sp>
      <p:sp>
        <p:nvSpPr>
          <p:cNvPr id="30" name="Text 26"/>
          <p:cNvSpPr/>
          <p:nvPr/>
        </p:nvSpPr>
        <p:spPr>
          <a:xfrm>
            <a:off x="7040880" y="4544568"/>
            <a:ext cx="43434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✦"/>
            </a:pPr>
            <a:r>
              <a:rPr lang="en-US" sz="1250" dirty="0">
                <a:solidFill>
                  <a:srgbClr val="EDF2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administrators a clear inventory warning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✦"/>
            </a:pPr>
            <a:r>
              <a:rPr lang="en-US" sz="1250" dirty="0">
                <a:solidFill>
                  <a:srgbClr val="EDF2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products unavailable from all merchants</a:t>
            </a:r>
            <a:endParaRPr lang="en-US" sz="1250" dirty="0"/>
          </a:p>
        </p:txBody>
      </p:sp>
      <p:sp>
        <p:nvSpPr>
          <p:cNvPr id="31" name="Text 2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0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1  •  UML &amp; EXTRA ENDPOINTS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ENDPOINT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5  •  Enhancement to the core CRUD API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144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61872" y="877824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an Overall Stock Status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261872" y="1371600"/>
            <a:ext cx="566928" cy="310896"/>
          </a:xfrm>
          <a:prstGeom prst="roundRect">
            <a:avLst>
              <a:gd name="adj" fmla="val 50000"/>
            </a:avLst>
          </a:prstGeom>
          <a:solidFill>
            <a:srgbClr val="1F6F50"/>
          </a:solidFill>
          <a:ln/>
        </p:spPr>
      </p:sp>
      <p:sp>
        <p:nvSpPr>
          <p:cNvPr id="8" name="Text 6"/>
          <p:cNvSpPr/>
          <p:nvPr/>
        </p:nvSpPr>
        <p:spPr>
          <a:xfrm>
            <a:off x="1261872" y="1371600"/>
            <a:ext cx="5669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01952" y="1371600"/>
            <a:ext cx="3377794" cy="310896"/>
          </a:xfrm>
          <a:prstGeom prst="roundRect">
            <a:avLst>
              <a:gd name="adj" fmla="val 50000"/>
            </a:avLst>
          </a:prstGeom>
          <a:solidFill>
            <a:srgbClr val="EDF2FC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01952" y="1371600"/>
            <a:ext cx="337779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/api/v1/stock/stock-status/{productId}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829800" y="457200"/>
            <a:ext cx="146304" cy="146304"/>
          </a:xfrm>
          <a:prstGeom prst="ellipse">
            <a:avLst/>
          </a:prstGeom>
          <a:solidFill>
            <a:srgbClr val="D7DEEF"/>
          </a:solidFill>
          <a:ln/>
        </p:spPr>
      </p:sp>
      <p:sp>
        <p:nvSpPr>
          <p:cNvPr id="12" name="Shape 10"/>
          <p:cNvSpPr/>
          <p:nvPr/>
        </p:nvSpPr>
        <p:spPr>
          <a:xfrm>
            <a:off x="10140696" y="457200"/>
            <a:ext cx="146304" cy="146304"/>
          </a:xfrm>
          <a:prstGeom prst="ellipse">
            <a:avLst/>
          </a:prstGeom>
          <a:solidFill>
            <a:srgbClr val="D7DEEF"/>
          </a:solidFill>
          <a:ln/>
        </p:spPr>
      </p:sp>
      <p:sp>
        <p:nvSpPr>
          <p:cNvPr id="13" name="Shape 11"/>
          <p:cNvSpPr/>
          <p:nvPr/>
        </p:nvSpPr>
        <p:spPr>
          <a:xfrm>
            <a:off x="10451592" y="457200"/>
            <a:ext cx="146304" cy="146304"/>
          </a:xfrm>
          <a:prstGeom prst="ellipse">
            <a:avLst/>
          </a:prstGeom>
          <a:solidFill>
            <a:srgbClr val="D7DEEF"/>
          </a:solidFill>
          <a:ln/>
        </p:spPr>
      </p:sp>
      <p:sp>
        <p:nvSpPr>
          <p:cNvPr id="14" name="Shape 12"/>
          <p:cNvSpPr/>
          <p:nvPr/>
        </p:nvSpPr>
        <p:spPr>
          <a:xfrm>
            <a:off x="10762488" y="457200"/>
            <a:ext cx="146304" cy="146304"/>
          </a:xfrm>
          <a:prstGeom prst="ellipse">
            <a:avLst/>
          </a:prstGeom>
          <a:solidFill>
            <a:srgbClr val="D7DEEF"/>
          </a:solidFill>
          <a:ln/>
        </p:spPr>
      </p:sp>
      <p:sp>
        <p:nvSpPr>
          <p:cNvPr id="15" name="Shape 13"/>
          <p:cNvSpPr/>
          <p:nvPr/>
        </p:nvSpPr>
        <p:spPr>
          <a:xfrm>
            <a:off x="11073384" y="457200"/>
            <a:ext cx="201168" cy="20116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/>
          <p:nvPr/>
        </p:nvSpPr>
        <p:spPr>
          <a:xfrm>
            <a:off x="9692640" y="71323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150" kern="0" dirty="0">
                <a:solidFill>
                  <a:srgbClr val="4B5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8640" y="1920240"/>
            <a:ext cx="5989320" cy="4434840"/>
          </a:xfrm>
          <a:prstGeom prst="roundRect">
            <a:avLst>
              <a:gd name="adj" fmla="val 1856"/>
            </a:avLst>
          </a:prstGeom>
          <a:solidFill>
            <a:srgbClr val="10133A"/>
          </a:solidFill>
          <a:ln/>
          <a:effectLst>
            <a:outerShdw sx="100000" sy="100000" kx="0" ky="0" algn="bl" rotWithShape="0" blurRad="127000" dist="50800" dir="5400000">
              <a:srgbClr val="10133A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49808" y="2084832"/>
            <a:ext cx="118872" cy="118872"/>
          </a:xfrm>
          <a:prstGeom prst="ellipse">
            <a:avLst/>
          </a:prstGeom>
          <a:solidFill>
            <a:srgbClr val="E86A5C"/>
          </a:solidFill>
          <a:ln/>
        </p:spPr>
      </p:sp>
      <p:sp>
        <p:nvSpPr>
          <p:cNvPr id="19" name="Shape 17"/>
          <p:cNvSpPr/>
          <p:nvPr/>
        </p:nvSpPr>
        <p:spPr>
          <a:xfrm>
            <a:off x="969264" y="2084832"/>
            <a:ext cx="118872" cy="118872"/>
          </a:xfrm>
          <a:prstGeom prst="ellipse">
            <a:avLst/>
          </a:prstGeom>
          <a:solidFill>
            <a:srgbClr val="E8C25C"/>
          </a:solidFill>
          <a:ln/>
        </p:spPr>
      </p:sp>
      <p:sp>
        <p:nvSpPr>
          <p:cNvPr id="20" name="Shape 18"/>
          <p:cNvSpPr/>
          <p:nvPr/>
        </p:nvSpPr>
        <p:spPr>
          <a:xfrm>
            <a:off x="1188720" y="2084832"/>
            <a:ext cx="118872" cy="118872"/>
          </a:xfrm>
          <a:prstGeom prst="ellipse">
            <a:avLst/>
          </a:prstGeom>
          <a:solidFill>
            <a:srgbClr val="5CB85C"/>
          </a:solidFill>
          <a:ln/>
        </p:spPr>
      </p:sp>
      <p:sp>
        <p:nvSpPr>
          <p:cNvPr id="21" name="Text 19"/>
          <p:cNvSpPr/>
          <p:nvPr/>
        </p:nvSpPr>
        <p:spPr>
          <a:xfrm>
            <a:off x="1554480" y="2039112"/>
            <a:ext cx="4617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8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MerchantStockController.java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2960" y="2359152"/>
            <a:ext cx="54864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String getProductStockStatus(String productId) {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boolean productExists = productService.exists(productId);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(!productExists) { return null; }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totalStock = 0;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(MerchantStock stock : merchantStocks) {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(stock.getProductid().equals(productId)) {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totalStock += stock.getStock();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(totalStock == 0) { return "Out of Stock"; }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(totalStock &lt;= 10) { return "Low Stock"; }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"Available";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766560" y="1920240"/>
            <a:ext cx="4892040" cy="1874520"/>
          </a:xfrm>
          <a:prstGeom prst="roundRect">
            <a:avLst>
              <a:gd name="adj" fmla="val 4878"/>
            </a:avLst>
          </a:prstGeom>
          <a:solidFill>
            <a:srgbClr val="EDF2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24" name="Image 0" descr="icons_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28" y="2103120"/>
            <a:ext cx="292608" cy="292608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7360920" y="2048256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7040880" y="2487168"/>
            <a:ext cx="4343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E3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 stock across all merchants for one product: 0 units is Out of Stock, 1-10 units is Low Stock, and more than 10 is Available.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6766560" y="3977640"/>
            <a:ext cx="4892040" cy="2377440"/>
          </a:xfrm>
          <a:prstGeom prst="roundRect">
            <a:avLst>
              <a:gd name="adj" fmla="val 3846"/>
            </a:avLst>
          </a:prstGeom>
          <a:solidFill>
            <a:srgbClr val="1E2761"/>
          </a:solidFill>
          <a:ln/>
        </p:spPr>
      </p:sp>
      <p:pic>
        <p:nvPicPr>
          <p:cNvPr id="28" name="Image 1" descr="icons_trend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728" y="4160520"/>
            <a:ext cx="292608" cy="292608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360920" y="4105656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Enhances the System</a:t>
            </a:r>
            <a:endParaRPr lang="en-US" sz="1500" dirty="0"/>
          </a:p>
        </p:txBody>
      </p:sp>
      <p:sp>
        <p:nvSpPr>
          <p:cNvPr id="30" name="Text 26"/>
          <p:cNvSpPr/>
          <p:nvPr/>
        </p:nvSpPr>
        <p:spPr>
          <a:xfrm>
            <a:off x="7040880" y="4544568"/>
            <a:ext cx="43434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✦"/>
            </a:pPr>
            <a:r>
              <a:rPr lang="en-US" sz="1250" dirty="0">
                <a:solidFill>
                  <a:srgbClr val="EDF2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 comprehensive view of merchant status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✦"/>
            </a:pPr>
            <a:r>
              <a:rPr lang="en-US" sz="1250" dirty="0">
                <a:solidFill>
                  <a:srgbClr val="EDF2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one clear signal instead of raw numbers</a:t>
            </a:r>
            <a:endParaRPr lang="en-US" sz="1250" dirty="0"/>
          </a:p>
        </p:txBody>
      </p:sp>
      <p:sp>
        <p:nvSpPr>
          <p:cNvPr id="31" name="Text 2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0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1  •  UML &amp; EXTRA ENDPOINTS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Extra Endpoints Fit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enhancement is mapped to its controller and method signature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109960" cy="877824"/>
          </a:xfrm>
          <a:prstGeom prst="roundRect">
            <a:avLst>
              <a:gd name="adj" fmla="val 8333"/>
            </a:avLst>
          </a:prstGeom>
          <a:solidFill>
            <a:srgbClr val="EDF2FC"/>
          </a:solidFill>
          <a:ln w="12700">
            <a:solidFill>
              <a:srgbClr val="D7DE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609344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60934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pic>
        <p:nvPicPr>
          <p:cNvPr id="7" name="Image 0" descr="icons_gitmer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536192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64208" y="147218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MerchantStockController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664208" y="1828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B5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251960" y="1645920"/>
            <a:ext cx="365760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251960" y="164592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/stock/product/{productId}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8092440" y="1371600"/>
            <a:ext cx="34290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4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getMerchantStocksByProduct(String productid)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48640" y="2359152"/>
            <a:ext cx="1110996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7DEE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49808" y="2596896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2"/>
          <p:cNvSpPr/>
          <p:nvPr/>
        </p:nvSpPr>
        <p:spPr>
          <a:xfrm>
            <a:off x="749808" y="259689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pic>
        <p:nvPicPr>
          <p:cNvPr id="16" name="Image 1" descr="icons_gitmer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523744"/>
            <a:ext cx="219456" cy="21945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664208" y="245973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MerchantStockController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1664208" y="28163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B5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4251960" y="2633472"/>
            <a:ext cx="365760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251960" y="263347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/stock/lowstock-price/{productid}/{merchantid}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8092440" y="2359152"/>
            <a:ext cx="34290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4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getLowStockDiscountedPrice(String productId, String merchantId)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548640" y="3346704"/>
            <a:ext cx="11109960" cy="877824"/>
          </a:xfrm>
          <a:prstGeom prst="roundRect">
            <a:avLst>
              <a:gd name="adj" fmla="val 8333"/>
            </a:avLst>
          </a:prstGeom>
          <a:solidFill>
            <a:srgbClr val="EDF2FC"/>
          </a:solidFill>
          <a:ln w="12700">
            <a:solidFill>
              <a:srgbClr val="D7DEEF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49808" y="358444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0"/>
          <p:cNvSpPr/>
          <p:nvPr/>
        </p:nvSpPr>
        <p:spPr>
          <a:xfrm>
            <a:off x="749808" y="35844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pic>
        <p:nvPicPr>
          <p:cNvPr id="25" name="Image 2" descr="icons_gitmer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511296"/>
            <a:ext cx="219456" cy="21945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664208" y="34472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ProductController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1664208" y="380390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B5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4251960" y="3621024"/>
            <a:ext cx="365760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4251960" y="3621024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/product/price-range/{minPrice}/{maxPrice}</a:t>
            </a:r>
            <a:endParaRPr lang="en-US" sz="950" dirty="0"/>
          </a:p>
        </p:txBody>
      </p:sp>
      <p:sp>
        <p:nvSpPr>
          <p:cNvPr id="30" name="Text 25"/>
          <p:cNvSpPr/>
          <p:nvPr/>
        </p:nvSpPr>
        <p:spPr>
          <a:xfrm>
            <a:off x="8092440" y="3346704"/>
            <a:ext cx="34290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4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filterByPriceRange(double minPrice, double maxPrice)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548640" y="4334256"/>
            <a:ext cx="1110996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7DEEF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749808" y="457200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3" name="Text 28"/>
          <p:cNvSpPr/>
          <p:nvPr/>
        </p:nvSpPr>
        <p:spPr>
          <a:xfrm>
            <a:off x="749808" y="457200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pic>
        <p:nvPicPr>
          <p:cNvPr id="34" name="Image 3" descr="icons_gitmer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4498848"/>
            <a:ext cx="219456" cy="219456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1664208" y="44348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ProductController</a:t>
            </a:r>
            <a:endParaRPr lang="en-US" sz="1250" dirty="0"/>
          </a:p>
        </p:txBody>
      </p:sp>
      <p:sp>
        <p:nvSpPr>
          <p:cNvPr id="36" name="Text 30"/>
          <p:cNvSpPr/>
          <p:nvPr/>
        </p:nvSpPr>
        <p:spPr>
          <a:xfrm>
            <a:off x="1664208" y="479145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B5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950" dirty="0"/>
          </a:p>
        </p:txBody>
      </p:sp>
      <p:sp>
        <p:nvSpPr>
          <p:cNvPr id="37" name="Shape 31"/>
          <p:cNvSpPr/>
          <p:nvPr/>
        </p:nvSpPr>
        <p:spPr>
          <a:xfrm>
            <a:off x="4251960" y="4608576"/>
            <a:ext cx="365760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4251960" y="4608576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/product/out-of-stock</a:t>
            </a:r>
            <a:endParaRPr lang="en-US" sz="950" dirty="0"/>
          </a:p>
        </p:txBody>
      </p:sp>
      <p:sp>
        <p:nvSpPr>
          <p:cNvPr id="39" name="Text 33"/>
          <p:cNvSpPr/>
          <p:nvPr/>
        </p:nvSpPr>
        <p:spPr>
          <a:xfrm>
            <a:off x="8092440" y="4334256"/>
            <a:ext cx="34290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4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getOutOfStockProducts()</a:t>
            </a:r>
            <a:endParaRPr lang="en-US" sz="950" dirty="0"/>
          </a:p>
        </p:txBody>
      </p:sp>
      <p:sp>
        <p:nvSpPr>
          <p:cNvPr id="40" name="Shape 34"/>
          <p:cNvSpPr/>
          <p:nvPr/>
        </p:nvSpPr>
        <p:spPr>
          <a:xfrm>
            <a:off x="548640" y="5321808"/>
            <a:ext cx="11109960" cy="877824"/>
          </a:xfrm>
          <a:prstGeom prst="roundRect">
            <a:avLst>
              <a:gd name="adj" fmla="val 8333"/>
            </a:avLst>
          </a:prstGeom>
          <a:solidFill>
            <a:srgbClr val="EDF2FC"/>
          </a:solidFill>
          <a:ln w="12700">
            <a:solidFill>
              <a:srgbClr val="D7DEEF"/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749808" y="555955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2" name="Text 36"/>
          <p:cNvSpPr/>
          <p:nvPr/>
        </p:nvSpPr>
        <p:spPr>
          <a:xfrm>
            <a:off x="749808" y="55595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pic>
        <p:nvPicPr>
          <p:cNvPr id="43" name="Image 4" descr="icons_gitmer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5486400"/>
            <a:ext cx="219456" cy="219456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1664208" y="542239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MerchantStockController</a:t>
            </a:r>
            <a:endParaRPr lang="en-US" sz="1250" dirty="0"/>
          </a:p>
        </p:txBody>
      </p:sp>
      <p:sp>
        <p:nvSpPr>
          <p:cNvPr id="45" name="Text 38"/>
          <p:cNvSpPr/>
          <p:nvPr/>
        </p:nvSpPr>
        <p:spPr>
          <a:xfrm>
            <a:off x="1664208" y="577900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B5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950" dirty="0"/>
          </a:p>
        </p:txBody>
      </p:sp>
      <p:sp>
        <p:nvSpPr>
          <p:cNvPr id="46" name="Shape 39"/>
          <p:cNvSpPr/>
          <p:nvPr/>
        </p:nvSpPr>
        <p:spPr>
          <a:xfrm>
            <a:off x="4251960" y="5596128"/>
            <a:ext cx="365760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4251960" y="559612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/stock/stock-status/{productId}</a:t>
            </a:r>
            <a:endParaRPr lang="en-US" sz="950" dirty="0"/>
          </a:p>
        </p:txBody>
      </p:sp>
      <p:sp>
        <p:nvSpPr>
          <p:cNvPr id="48" name="Text 41"/>
          <p:cNvSpPr/>
          <p:nvPr/>
        </p:nvSpPr>
        <p:spPr>
          <a:xfrm>
            <a:off x="8092440" y="5321808"/>
            <a:ext cx="34290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4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getProductStockStatus(String productId)</a:t>
            </a:r>
            <a:endParaRPr lang="en-US" sz="950" dirty="0"/>
          </a:p>
        </p:txBody>
      </p:sp>
      <p:sp>
        <p:nvSpPr>
          <p:cNvPr id="49" name="Text 4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0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1  •  UML &amp; EXTRA ENDPOINTS</a:t>
            </a:r>
            <a:endParaRPr lang="en-US" sz="900" dirty="0"/>
          </a:p>
        </p:txBody>
      </p:sp>
      <p:sp>
        <p:nvSpPr>
          <p:cNvPr id="50" name="Text 43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9418320" y="-1097280"/>
            <a:ext cx="4206240" cy="4206240"/>
          </a:xfrm>
          <a:prstGeom prst="roundRect">
            <a:avLst>
              <a:gd name="adj" fmla="val 9783"/>
            </a:avLst>
          </a:prstGeom>
          <a:solidFill>
            <a:srgbClr val="141A4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789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UML model and the five extra endpoints add up to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074920" cy="1572768"/>
          </a:xfrm>
          <a:prstGeom prst="roundRect">
            <a:avLst>
              <a:gd name="adj" fmla="val 5814"/>
            </a:avLst>
          </a:prstGeom>
          <a:solidFill>
            <a:srgbClr val="252E6B"/>
          </a:solidFill>
          <a:ln w="12700">
            <a:solidFill>
              <a:srgbClr val="3B45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920240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7" name="Image 0" descr="icons_check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029968"/>
            <a:ext cx="283464" cy="2834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36192" y="1856232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focused domain model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536192" y="2258568"/>
            <a:ext cx="3977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DF2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Centered on Product, Category, Merchant, MerchantStock and User.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035040" y="1691640"/>
            <a:ext cx="5074920" cy="1572768"/>
          </a:xfrm>
          <a:prstGeom prst="roundRect">
            <a:avLst>
              <a:gd name="adj" fmla="val 5814"/>
            </a:avLst>
          </a:prstGeom>
          <a:solidFill>
            <a:srgbClr val="252E6B"/>
          </a:solidFill>
          <a:ln w="12700">
            <a:solidFill>
              <a:srgbClr val="3B458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263640" y="1920240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2" name="Image 1" descr="icons_check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68" y="2029968"/>
            <a:ext cx="283464" cy="2834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31152" y="1856232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key relationship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6931152" y="2258568"/>
            <a:ext cx="3977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DF2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MerchantStock links products and merchants together.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40080" y="3538728"/>
            <a:ext cx="5074920" cy="1572768"/>
          </a:xfrm>
          <a:prstGeom prst="roundRect">
            <a:avLst>
              <a:gd name="adj" fmla="val 5814"/>
            </a:avLst>
          </a:prstGeom>
          <a:solidFill>
            <a:srgbClr val="252E6B"/>
          </a:solidFill>
          <a:ln w="12700">
            <a:solidFill>
              <a:srgbClr val="3B458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68680" y="3767328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7" name="Image 2" descr="icons_check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3877056"/>
            <a:ext cx="283464" cy="28346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36192" y="370332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smart enhancements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1536192" y="4105656"/>
            <a:ext cx="3977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DF2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inventory intelligence and business rules beyond CRUD.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035040" y="3538728"/>
            <a:ext cx="5074920" cy="1572768"/>
          </a:xfrm>
          <a:prstGeom prst="roundRect">
            <a:avLst>
              <a:gd name="adj" fmla="val 5814"/>
            </a:avLst>
          </a:prstGeom>
          <a:solidFill>
            <a:srgbClr val="252E6B"/>
          </a:solidFill>
          <a:ln w="12700">
            <a:solidFill>
              <a:srgbClr val="3B458C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263640" y="3767328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2" name="Image 3" descr="icons_checkcir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3368" y="3877056"/>
            <a:ext cx="283464" cy="28346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931152" y="370332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&amp; extensible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6931152" y="4105656"/>
            <a:ext cx="3977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DF2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endpoint reuses existing services and models.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640080" y="5431536"/>
            <a:ext cx="10469880" cy="685800"/>
          </a:xfrm>
          <a:prstGeom prst="roundRect">
            <a:avLst>
              <a:gd name="adj" fmla="val 13333"/>
            </a:avLst>
          </a:prstGeom>
          <a:solidFill>
            <a:srgbClr val="C9A227"/>
          </a:solidFill>
          <a:ln/>
        </p:spPr>
      </p:sp>
      <p:sp>
        <p:nvSpPr>
          <p:cNvPr id="26" name="Text 20"/>
          <p:cNvSpPr/>
          <p:nvPr/>
        </p:nvSpPr>
        <p:spPr>
          <a:xfrm>
            <a:off x="914400" y="5431536"/>
            <a:ext cx="9921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pPr indent="0" marL="0">
              <a:buNone/>
            </a:pPr>
            <a:r>
              <a:rPr lang="en-US" sz="1450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more useful REST API without redesigning the core domain model.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79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1  •  UML &amp; EXTRA ENDPOINTS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2026-09-15T21:58:25Z</dcterms:created>
  <dcterms:modified xsi:type="dcterms:W3CDTF">2026-09-15T21:58:25Z</dcterms:modified>
</cp:coreProperties>
</file>